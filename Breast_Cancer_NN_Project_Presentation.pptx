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🧬 Breast Cancer Classification</a:t>
            </a:r>
          </a:p>
          <a:p>
            <a:pPr>
              <a:defRPr sz="3200" b="1">
                <a:solidFill>
                  <a:srgbClr val="E91E63"/>
                </a:solidFill>
              </a:defRPr>
            </a:pPr>
            <a:r>
              <a:t>using Neural Networks (Deep Learning)</a:t>
            </a:r>
          </a:p>
          <a:p>
            <a:br/>
            <a:pPr>
              <a:defRPr sz="1800">
                <a:solidFill>
                  <a:srgbClr val="BDC3C7"/>
                </a:solidFill>
              </a:defRPr>
            </a:pPr>
            <a:r>
              <a:t>Project Presentation  |  Dataset: Breast Cancer Wisconsin (Diagnostic)</a:t>
            </a:r>
          </a:p>
          <a:p>
            <a:pPr>
              <a:defRPr sz="1600">
                <a:solidFill>
                  <a:srgbClr val="BDC3C7"/>
                </a:solidFill>
              </a:defRPr>
            </a:pPr>
            <a:r>
              <a:t>Tech Stack: Python • TensorFlow/Keras • Scikit-learn • Pandas •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1.  Problem Statement &amp; Real-World Motivation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2.  Dataset Overview (569 records, 30 features)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3.  Data Preprocessing Pipeline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4.  Neural Network (MLP) Architecture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5.  Model Compilation &amp; Training Process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6.  Training Results — Accuracy &amp; Loss Curves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7.  Model Evaluation &amp; Confusion Matrix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8.  Predictive System — Real-World Usage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9.  Results Summary &amp; Key Metrics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10. Limitations, Improvements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🎯 Problem Statement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Why do we need Machine Learning 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Breast cancer is one of the most common cancers worldwide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Doctors use Fine Needle Aspirate (FNA) — microscopic image of tumor cells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From the image, 30 measurements are extracted (radius, texture, area...)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Challenges with manual diagnosis: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⏱ Slow — only expert doctors can analyze cases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👁 Human error — fatigue leads to inconsistent judgments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⚖️ Critical stakes — Malignant (cancerous) vs Benign (harmless) confusion is life-threatening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Goal: Build a Neural Network that automatically classifies a tumor as</a:t>
            </a:r>
          </a:p>
          <a:p>
            <a:pPr>
              <a:spcAft>
                <a:spcPts val="600"/>
              </a:spcAft>
              <a:defRPr sz="1900" b="1">
                <a:solidFill>
                  <a:srgbClr val="E91E63"/>
                </a:solidFill>
              </a:defRPr>
            </a:pPr>
            <a:r>
              <a:t>MALIGNANT or BENIGN with high accuracy — a fast, consistent second-opinion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📊 Dataset Overview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Breast Cancer Wisconsin (Diagnostic) — built into sklearn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Total Records: 569 samples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Total Features: 30 numeric measurements + 1 label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No missing values — clean dataset (verified with isnull().sum())</a:t>
            </a:r>
          </a:p>
          <a:p>
            <a:pPr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Feature Categories (10 base measurements × 3 statistics each):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Mean values: radius, texture, perimeter, area, smoothness, compactness, concavity, concave points, symmetry, fractal dimension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Standard Error (error) values of the same 10 measurements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Worst (largest) values of the same 10 measurements</a:t>
            </a:r>
          </a:p>
          <a:p>
            <a:pPr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Class Distribution:</a:t>
            </a:r>
          </a:p>
          <a:p>
            <a:pPr lvl="1">
              <a:spcAft>
                <a:spcPts val="600"/>
              </a:spcAft>
              <a:defRPr sz="1700" b="1">
                <a:solidFill>
                  <a:srgbClr val="E91E63"/>
                </a:solidFill>
              </a:defRPr>
            </a:pPr>
            <a:r>
              <a:t>    0 = Malignant (cancerous): 212 samples (37.3%)</a:t>
            </a:r>
          </a:p>
          <a:p>
            <a:pPr lvl="1">
              <a:spcAft>
                <a:spcPts val="600"/>
              </a:spcAft>
              <a:defRPr sz="1700" b="1">
                <a:solidFill>
                  <a:srgbClr val="27AE60"/>
                </a:solidFill>
              </a:defRPr>
            </a:pPr>
            <a:r>
              <a:t>    1 = Benign (non-cancerous): 357 samples (62.7%)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 Data Preprocessing Pipeline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Steps before training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3E50"/>
                </a:solidFill>
              </a:defRPr>
            </a:pPr>
            <a:r>
              <a:t>Step 1 — Data Loading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    sklearn.datasets.load_breast_cancer() → converted to pandas DataFrame</a:t>
            </a:r>
          </a:p>
          <a:p>
            <a:pPr>
              <a:spcAft>
                <a:spcPts val="600"/>
              </a:spcAft>
              <a:defRPr sz="1600" b="1">
                <a:solidFill>
                  <a:srgbClr val="2C3E50"/>
                </a:solidFill>
              </a:defRPr>
            </a:pPr>
            <a:r>
              <a:t>Step 2 — Data Inspection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    Checked shape (569, 31), data types, missing values (0 found)</a:t>
            </a:r>
          </a:p>
          <a:p>
            <a:pPr>
              <a:spcAft>
                <a:spcPts val="600"/>
              </a:spcAft>
              <a:defRPr sz="1600" b="1">
                <a:solidFill>
                  <a:srgbClr val="2C3E50"/>
                </a:solidFill>
              </a:defRPr>
            </a:pPr>
            <a:r>
              <a:t>Step 3 — Feature / Label Split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    X = 30 feature columns, Y = label column (0/1)</a:t>
            </a:r>
          </a:p>
          <a:p>
            <a:pPr>
              <a:spcAft>
                <a:spcPts val="600"/>
              </a:spcAft>
              <a:defRPr sz="1600" b="1">
                <a:solidFill>
                  <a:srgbClr val="2C3E50"/>
                </a:solidFill>
              </a:defRPr>
            </a:pPr>
            <a:r>
              <a:t>Step 4 — Train-Test Split (train_test_split)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    test_size = 0.2 → 455 training rows, 114 testing rows, random_state = 2</a:t>
            </a:r>
          </a:p>
          <a:p>
            <a:pPr>
              <a:spcAft>
                <a:spcPts val="600"/>
              </a:spcAft>
              <a:defRPr sz="1600" b="1">
                <a:solidFill>
                  <a:srgbClr val="2C3E50"/>
                </a:solidFill>
              </a:defRPr>
            </a:pPr>
            <a:r>
              <a:t>Step 5 — Feature Scaling (StandardScaler)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    Z-score normalization: x' = (x − mean) / std</a:t>
            </a:r>
          </a:p>
          <a:p>
            <a:pPr lvl="1">
              <a:spcAft>
                <a:spcPts val="600"/>
              </a:spcAft>
              <a:defRPr sz="1600" b="1">
                <a:solidFill>
                  <a:srgbClr val="27AE60"/>
                </a:solidFill>
              </a:defRPr>
            </a:pPr>
            <a:r>
              <a:t>    fit_transform() on train, transform() on test → prevents data leakage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2C3E50"/>
                </a:solidFill>
              </a:defRPr>
            </a:pPr>
            <a:r>
              <a:t>    Why? Features like 'area' (~2500) dominate 'smoothness' (~0.05) → NN needs uniform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🏗 Neural Network Architecture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Multi-Layer Perceptron (MLP)</a:t>
            </a:r>
          </a:p>
        </p:txBody>
      </p:sp>
      <p:pic>
        <p:nvPicPr>
          <p:cNvPr id="3" name="Picture 2" descr="pp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9601200" cy="5606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91E63"/>
                </a:solidFill>
              </a:defRPr>
            </a:pPr>
            <a:r>
              <a:t>Input (30) → Dense(20, ReLU) → Dense(2, Sigmoid)   |   Total params: 662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🏗 Architecture — Layer by Layer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Why each choice was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Layer 1 — Input (30 neurons)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One neuron per feature (the 30 tumor measurements)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Layer 2 — Hidden Dense Layer (20 neurons, ReLU)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Learns non-linear patterns/relationships between features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ReLU: fast convergence, avoids vanishing gradient problem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Layer 3 — Output Layer (2 neurons, Sigmoid)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Each neuron gives probability: [P(malignant), P(benign)]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argmax of these probabilities = final predicted class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Model Size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Weights: 30×20 + 20×2 = 640 | Biases: 20 + 2 = 22 → 662 total parameters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Small network = fast training, low overfitting risk on small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⚙️ Model Compilation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Loss, Optimizer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Loss Function — Sparse Categorical Crossentropy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Measures how far predicted probability is from true label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'Sparse' = labels are integers (0/1), not one-hot encoded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Optimizer — Adam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Adaptive learning rate → automatically adjusts step size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Combines best of RMSProp + Momentum; industry default choice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Metric — Accuracy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% of correct predictions — easy to interpret for stakeholders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Reproducibility — tf.random.set_seed(3)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Fixes random weight initialization so results are comparable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🚀 Training Process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model.fit()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91E63"/>
                </a:solidFill>
              </a:defRPr>
            </a:pPr>
            <a:r>
              <a:t>history = model.fit(X_train_std, Y_train, validation_split=0.1, epochs=10)</a:t>
            </a:r>
          </a:p>
          <a:p>
            <a:pPr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Epochs = 10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Complete passes through the entire training set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Validation Split = 0.1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10% of training data (≈45 samples) held out to monitor overfitting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Model never learns from validation data — it's a test during training</a:t>
            </a: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What happens each epoch: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1. Forward pass → predictions on batch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2. Loss computed (crossentropy)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3. Backpropagation → gradients of loss w.r.t. weights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4. Adam updates the 662 parameters to reduce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📈 Training Results — Accuracy Curve</a:t>
            </a:r>
          </a:p>
        </p:txBody>
      </p:sp>
      <p:pic>
        <p:nvPicPr>
          <p:cNvPr id="3" name="Picture 2" descr="ppt_accurac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68447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C3E50"/>
                </a:solidFill>
              </a:defRPr>
            </a:pPr>
            <a:r>
              <a:t>Observations:</a:t>
            </a:r>
          </a:p>
          <a:p>
            <a:pPr>
              <a:spcAft>
                <a:spcPts val="800"/>
              </a:spcAft>
              <a:defRPr sz="1700" b="0">
                <a:solidFill>
                  <a:srgbClr val="2C3E50"/>
                </a:solidFill>
              </a:defRPr>
            </a:pPr>
            <a:r>
              <a:t>• Training accuracy climbs from ~57% to ~97%</a:t>
            </a:r>
          </a:p>
          <a:p>
            <a:pPr>
              <a:spcAft>
                <a:spcPts val="800"/>
              </a:spcAft>
              <a:defRPr sz="1700" b="0">
                <a:solidFill>
                  <a:srgbClr val="2C3E50"/>
                </a:solidFill>
              </a:defRPr>
            </a:pPr>
            <a:r>
              <a:t>• Validation accuracy reaches 93–95%</a:t>
            </a:r>
          </a:p>
          <a:p>
            <a:pPr>
              <a:spcAft>
                <a:spcPts val="800"/>
              </a:spcAft>
              <a:defRPr sz="1700" b="1">
                <a:solidFill>
                  <a:srgbClr val="27AE60"/>
                </a:solidFill>
              </a:defRPr>
            </a:pPr>
            <a:r>
              <a:t>• Small gap between curves = no significant overfitting</a:t>
            </a:r>
          </a:p>
          <a:p>
            <a:pPr>
              <a:spcAft>
                <a:spcPts val="800"/>
              </a:spcAft>
              <a:defRPr sz="1700" b="0">
                <a:solidFill>
                  <a:srgbClr val="2C3E50"/>
                </a:solidFill>
              </a:defRPr>
            </a:pPr>
            <a:r>
              <a:t>• Model converges smoothly — healthy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📉 Training Results — Loss Curve</a:t>
            </a:r>
          </a:p>
        </p:txBody>
      </p:sp>
      <p:pic>
        <p:nvPicPr>
          <p:cNvPr id="3" name="Picture 2" descr="ppt_lo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68447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C3E50"/>
                </a:solidFill>
              </a:defRPr>
            </a:pPr>
            <a:r>
              <a:t>Observations:</a:t>
            </a:r>
          </a:p>
          <a:p>
            <a:pPr>
              <a:spcAft>
                <a:spcPts val="800"/>
              </a:spcAft>
              <a:defRPr sz="1700" b="0">
                <a:solidFill>
                  <a:srgbClr val="2C3E50"/>
                </a:solidFill>
              </a:defRPr>
            </a:pPr>
            <a:r>
              <a:t>• Training loss drops from ~0.69 to ~0.12</a:t>
            </a:r>
          </a:p>
          <a:p>
            <a:pPr>
              <a:spcAft>
                <a:spcPts val="800"/>
              </a:spcAft>
              <a:defRPr sz="1700" b="0">
                <a:solidFill>
                  <a:srgbClr val="2C3E50"/>
                </a:solidFill>
              </a:defRPr>
            </a:pPr>
            <a:r>
              <a:t>• Validation loss follows the same trend</a:t>
            </a:r>
          </a:p>
          <a:p>
            <a:pPr>
              <a:spcAft>
                <a:spcPts val="800"/>
              </a:spcAft>
              <a:defRPr sz="1700" b="1">
                <a:solidFill>
                  <a:srgbClr val="27AE60"/>
                </a:solidFill>
              </a:defRPr>
            </a:pPr>
            <a:r>
              <a:t>• Both curves decreasing = model is learning general patterns</a:t>
            </a:r>
          </a:p>
          <a:p>
            <a:pPr>
              <a:spcAft>
                <a:spcPts val="800"/>
              </a:spcAft>
              <a:defRPr sz="1700" b="0">
                <a:solidFill>
                  <a:srgbClr val="2C3E50"/>
                </a:solidFill>
              </a:defRPr>
            </a:pPr>
            <a:r>
              <a:t>• No divergence → no overfitting yet at epoch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🧪 Model Evaluation on Test Data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114 unseen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91E63"/>
                </a:solidFill>
              </a:defRPr>
            </a:pPr>
            <a:r>
              <a:t>loss, accuracy = model.evaluate(X_test_std, Y_test)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27AE60"/>
                </a:solidFill>
              </a:defRPr>
            </a:pPr>
            <a:r>
              <a:t>Test Accuracy: ~95–96% (varies 94.7–96.5% per run due to TF randomness)</a:t>
            </a:r>
          </a:p>
          <a:p>
            <a:pPr>
              <a:spcAft>
                <a:spcPts val="600"/>
              </a:spcAft>
              <a:defRPr sz="2000" b="1">
                <a:solidFill>
                  <a:srgbClr val="2C3E50"/>
                </a:solidFill>
              </a:defRPr>
            </a:pPr>
            <a:r>
              <a:t>Test Loss: ~0.12–0.15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Prediction → Label conversion: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model.predict() outputs probability pair for each sample, e.g. [0.14, 0.86]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np.argmax([0.14, 0.86]) → 1 → Benign</a:t>
            </a:r>
          </a:p>
          <a:p>
            <a:pPr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Out of 114 test samples, the model misclassifies only ~4–6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🔍 Confusion Matrix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Where does the model make mistakes?</a:t>
            </a:r>
          </a:p>
        </p:txBody>
      </p:sp>
      <p:pic>
        <p:nvPicPr>
          <p:cNvPr id="3" name="Picture 2" descr="pp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5346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C3E50"/>
                </a:solidFill>
              </a:defRPr>
            </a:pPr>
            <a:r>
              <a:t>Reading the matrix:</a:t>
            </a:r>
          </a:p>
          <a:p>
            <a:pPr>
              <a:spcAft>
                <a:spcPts val="700"/>
              </a:spcAft>
              <a:defRPr sz="1600" b="0">
                <a:solidFill>
                  <a:srgbClr val="2C3E50"/>
                </a:solidFill>
              </a:defRPr>
            </a:pPr>
            <a:r>
              <a:t>• Diagonal = correct predictions</a:t>
            </a:r>
          </a:p>
          <a:p>
            <a:pPr>
              <a:spcAft>
                <a:spcPts val="700"/>
              </a:spcAft>
              <a:defRPr sz="1600" b="0">
                <a:solidFill>
                  <a:srgbClr val="2C3E50"/>
                </a:solidFill>
              </a:defRPr>
            </a:pPr>
            <a:r>
              <a:t>• Off-diagonal = errors</a:t>
            </a:r>
          </a:p>
          <a:p>
            <a:pPr>
              <a:spcAft>
                <a:spcPts val="700"/>
              </a:spcAft>
              <a:defRPr sz="1600" b="1">
                <a:solidFill>
                  <a:srgbClr val="E91E63"/>
                </a:solidFill>
              </a:defRPr>
            </a:pPr>
            <a:r>
              <a:t>• Typical result: [[43, 2], [2, 67]]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  → 43 malignant correct, 2 missed as benign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  → 67 benign correct, 2 flagged as malignant</a:t>
            </a:r>
          </a:p>
          <a:p>
            <a:pPr>
              <a:spcAft>
                <a:spcPts val="700"/>
              </a:spcAft>
              <a:defRPr sz="1500" b="1">
                <a:solidFill>
                  <a:srgbClr val="E67E22"/>
                </a:solidFill>
              </a:defRPr>
            </a:pPr>
            <a:r>
              <a:t>Medical note: false negatives (missing a cancer) are the most costly errors — recall on malignant class matters most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🔮 Predictive System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Using the trained model on new patient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Workflow (as implemented in the notebook):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1. Take 30 measurements of a new tumor as input tuple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2. np.asarray(input_data) → numpy array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3. reshape(1, -1) → model expects 2D batch format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4. scaler.transform() → standardize using the SAME fitted scaler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5. model.predict() → probability pair [P(malignant), P(benign)]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6. np.argmax() → class label 0 or 1</a:t>
            </a:r>
          </a:p>
          <a:p>
            <a:pPr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2C3E50"/>
                </a:solidFill>
              </a:defRPr>
            </a:pPr>
            <a:r>
              <a:t>Example from notebook: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2C3E50"/>
                </a:solidFill>
              </a:defRPr>
            </a:pPr>
            <a:r>
              <a:t>    Input sample → prediction [[0.145, 0.868]] → label [1]</a:t>
            </a:r>
          </a:p>
          <a:p>
            <a:pPr>
              <a:spcAft>
                <a:spcPts val="600"/>
              </a:spcAft>
              <a:defRPr sz="2000" b="1">
                <a:solidFill>
                  <a:srgbClr val="27AE60"/>
                </a:solidFill>
              </a:defRPr>
            </a:pPr>
            <a:r>
              <a:t>Output: 'The tumor is Benign'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🏆 Results Summary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Final metrics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731520"/>
          </a:xfrm>
          <a:prstGeom prst="rect">
            <a:avLst/>
          </a:prstGeom>
          <a:solidFill>
            <a:srgbClr val="FDF2F6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Test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371600"/>
            <a:ext cx="2011680" cy="731520"/>
          </a:xfrm>
          <a:prstGeom prst="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~95%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5361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114 test samples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5120640" cy="731520"/>
          </a:xfrm>
          <a:prstGeom prst="rect">
            <a:avLst/>
          </a:prstGeom>
          <a:solidFill>
            <a:srgbClr val="FDF2F6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Val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2240280"/>
            <a:ext cx="2011680" cy="731520"/>
          </a:xfrm>
          <a:prstGeom prst="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~93–98%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048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45 held-out samples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5120640" cy="731520"/>
          </a:xfrm>
          <a:prstGeom prst="rect">
            <a:avLst/>
          </a:prstGeom>
          <a:solidFill>
            <a:srgbClr val="FDF2F6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3108960"/>
            <a:ext cx="2011680" cy="731520"/>
          </a:xfrm>
          <a:prstGeom prst="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7355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tiny, efficient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5120640" cy="731520"/>
          </a:xfrm>
          <a:prstGeom prst="rect">
            <a:avLst/>
          </a:prstGeom>
          <a:solidFill>
            <a:srgbClr val="FDF2F6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Misclassifications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977640"/>
            <a:ext cx="2011680" cy="731520"/>
          </a:xfrm>
          <a:prstGeom prst="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4223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out of 114 samples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5120640" cy="731520"/>
          </a:xfrm>
          <a:prstGeom prst="rect">
            <a:avLst/>
          </a:prstGeom>
          <a:solidFill>
            <a:srgbClr val="FDF2F6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Precision (both classes)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846320"/>
            <a:ext cx="2011680" cy="731520"/>
          </a:xfrm>
          <a:prstGeom prst="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~0.94–0.97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01091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low false alarms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715000"/>
            <a:ext cx="5120640" cy="731520"/>
          </a:xfrm>
          <a:prstGeom prst="rect">
            <a:avLst/>
          </a:prstGeom>
          <a:solidFill>
            <a:srgbClr val="FDF2F6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Recall (both classes)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715000"/>
            <a:ext cx="2011680" cy="731520"/>
          </a:xfrm>
          <a:prstGeom prst="rect">
            <a:avLst/>
          </a:prstGeom>
          <a:solidFill>
            <a:srgbClr val="E91E6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~0.94–0.97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8795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</a:defRPr>
            </a:pPr>
            <a:r>
              <a:t>few missed cancers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🛠 Tech Stack &amp; Libraries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Everything that powered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Python 3.10 — core language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TensorFlow 2.12 + Keras — building &amp; training the neural network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keras.Sequential, Dense layers, compile(), fit(), evaluate(), predict()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Scikit-learn 1.4 — dataset, preprocessing &amp; metrics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load_breast_cancer(), train_test_split(), StandardScaler(), confusion_matrix()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Pandas — DataFrame handling &amp; inspection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NumPy — array operations, np.argmax for label conversion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Matplotlib — accuracy/loss curves &amp; visualizations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Jupyter / Google Colab — interactive development environment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⚠️ Limitations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Small dataset (569 rows) — deep learning shines on bigger data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No cross-validation — single 80/20 split; accuracy varies run-to-run (94.7–96.5%)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Only 10 epochs — training could converge better with more epochs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No regularization — no Dropout / early stopping to guard overfitting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Binary classes only — no severity grading of the tumor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Assistive tool only — cannot replace a doctor's clinical judgment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🚀 Improvements &amp; Future Scope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What can take this project further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K-Fold Cross-Validation → stable, reliable accuracy estimates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Early Stopping + Dropout → prevent overfitting, save best model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More evaluation metrics → ROC-AUC, F1-score, precision-recall curves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Compare with classical ML → Logistic Regression, SVM, Random Forest benchmark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Hyperparameter tuning → neurons, layers, learning rate via KerasTuner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Model deployment → save as .keras, serve via Flask/Streamlit web app</a:t>
            </a:r>
          </a:p>
          <a:p>
            <a:pPr>
              <a:spcAft>
                <a:spcPts val="600"/>
              </a:spcAft>
              <a:defRPr sz="1900" b="1">
                <a:solidFill>
                  <a:srgbClr val="2C3E50"/>
                </a:solidFill>
              </a:defRPr>
            </a:pPr>
            <a:r>
              <a:t>Explainability → SHAP/LIME to show which features drive each prediction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🎓 Key Learnings</a:t>
            </a:r>
          </a:p>
          <a:p>
            <a:pPr>
              <a:defRPr sz="1300">
                <a:solidFill>
                  <a:srgbClr val="FCE4EC"/>
                </a:solidFill>
              </a:defRPr>
            </a:pPr>
            <a:r>
              <a:t>What this project teaches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End-to-end ML pipeline: data → preprocessing → model → evaluation → prediction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Why feature scaling is critical for neural networks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2C3E50"/>
                </a:solidFill>
              </a:defRPr>
            </a:pPr>
            <a:r>
              <a:t>    StandardScaler on train only, transform on test → avoiding data leakage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Designing a compact MLP: ReLU hidden layer + sigmoid output for binary classification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Sparse categorical crossentropy for integer labels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Monitoring training with validation split to detect overfitting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Converting raw probabilities to decisions using argmax</a:t>
            </a:r>
          </a:p>
          <a:p>
            <a:pPr>
              <a:spcAft>
                <a:spcPts val="600"/>
              </a:spcAft>
              <a:defRPr sz="1800" b="1">
                <a:solidFill>
                  <a:srgbClr val="2C3E50"/>
                </a:solidFill>
              </a:defRPr>
            </a:pPr>
            <a:r>
              <a:t>Building a reusable predictive system for real-world inference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 🎀</a:t>
            </a:r>
          </a:p>
          <a:p>
            <a:pPr algn="ctr">
              <a:defRPr sz="2400">
                <a:solidFill>
                  <a:srgbClr val="E91E63"/>
                </a:solidFill>
              </a:defRPr>
            </a:pPr>
            <a:r>
              <a:t>Breast Cancer Classification with Neural Networks</a:t>
            </a:r>
          </a:p>
          <a:p>
            <a:br/>
            <a:pPr algn="ctr">
              <a:defRPr sz="1800">
                <a:solidFill>
                  <a:srgbClr val="BDC3C7"/>
                </a:solidFill>
              </a:defRPr>
            </a:pPr>
            <a: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